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ppt/slides/slide2.xml" ContentType="application/vnd.openxmlformats-officedocument.presentationml.slide+xml"/>
  <Override PartName="/ppt/notesSlides/notesSlide.xml" ContentType="application/vnd.openxmlformats-officedocument.presentationml.notesSlide+xml"/>
  <Override PartName="/ppt/slides/slide3.xml" ContentType="application/vnd.openxmlformats-officedocument.presentationml.slide+xml"/>
  <Override PartName="/ppt/notesSlides/notesSlide2.xml" ContentType="application/vnd.openxmlformats-officedocument.presentationml.notesSlide+xml"/>
  <Override PartName="/ppt/slides/slide4.xml" ContentType="application/vnd.openxmlformats-officedocument.presentationml.slide+xml"/>
  <Override PartName="/ppt/notesSlides/notesSlide3.xml" ContentType="application/vnd.openxmlformats-officedocument.presentationml.notesSlide+xml"/>
  <Override PartName="/ppt/slides/slide5.xml" ContentType="application/vnd.openxmlformats-officedocument.presentationml.slide+xml"/>
  <Override PartName="/ppt/notesSlides/notesSlide4.xml" ContentType="application/vnd.openxmlformats-officedocument.presentationml.notesSlide+xml"/>
  <Override PartName="/ppt/slides/slide6.xml" ContentType="application/vnd.openxmlformats-officedocument.presentationml.slide+xml"/>
  <Override PartName="/ppt/notesSlides/notesSlide5.xml" ContentType="application/vnd.openxmlformats-officedocument.presentationml.notes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p15="http://schemas.microsoft.com/office/powerpoint/2012/mai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sldIdLst>
    <p:sldId id="256" r:id="rId2"/>
    <p:sldId id="257" r:id="RelId0"/>
    <p:sldId id="258" r:id="RelId1"/>
    <p:sldId id="259" r:id="RelId2"/>
    <p:sldId id="260" r:id="RelId3"/>
    <p:sldId id="261" r:id="RelId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3C910"/>
    <a:srgbClr val="D9D9D9"/>
    <a:srgbClr val="D3D3D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34580" autoAdjust="0"/>
    <p:restoredTop sz="86410" autoAdjust="0"/>
  </p:normalViewPr>
  <p:slideViewPr>
    <p:cSldViewPr snapToGrid="0" snapToObjects="1">
      <p:cViewPr varScale="1">
        <p:scale>
          <a:sx n="72" d="100"/>
          <a:sy n="72" d="100"/>
        </p:scale>
        <p:origin x="84" y="756"/>
      </p:cViewPr>
      <p:guideLst/>
    </p:cSldViewPr>
  </p:slideViewPr>
  <p:outlineViewPr>
    <p:cViewPr>
      <p:scale>
        <a:sx n="33" d="100"/>
        <a:sy n="33" d="100"/>
      </p:scale>
      <p:origin x="0" y="0"/>
    </p:cViewPr>
  </p:outlineViewPr>
  <p:notesTextViewPr>
    <p:cViewPr>
      <p:scale>
        <a:sx n="1" d="1"/>
        <a:sy n="1" d="1"/>
      </p:scale>
      <p:origin x="0" y="0"/>
    </p:cViewPr>
  </p:notesTextViewPr>
  <p:gridSpacing cx="76200" cy="76200"/>
</p:viewPr>
</file>

<file path=ppt/_rels/presentation.xml.rels>&#65279;<?xml version="1.0" encoding="utf-8"?><Relationships xmlns="http://schemas.openxmlformats.org/package/2006/relationships"><Relationship Type="http://schemas.openxmlformats.org/officeDocument/2006/relationships/presProps" Target="presProps.xml" Id="rId3" /><Relationship Type="http://schemas.openxmlformats.org/officeDocument/2006/relationships/slide" Target="slides/slide1.xml" Id="rId2" /><Relationship Type="http://schemas.openxmlformats.org/officeDocument/2006/relationships/slideMaster" Target="slideMasters/slideMaster1.xml" Id="rId1" /><Relationship Type="http://schemas.openxmlformats.org/officeDocument/2006/relationships/tableStyles" Target="tableStyles.xml" Id="rId6" /><Relationship Type="http://schemas.openxmlformats.org/officeDocument/2006/relationships/theme" Target="theme/theme1.xml" Id="rId5" /><Relationship Type="http://schemas.openxmlformats.org/officeDocument/2006/relationships/viewProps" Target="viewProps.xml" Id="rId4" /><Relationship Type="http://schemas.openxmlformats.org/officeDocument/2006/relationships/slide" Target="/ppt/slides/slide2.xml" Id="RelId0" /><Relationship Type="http://schemas.openxmlformats.org/officeDocument/2006/relationships/slide" Target="/ppt/slides/slide3.xml" Id="RelId1" /><Relationship Type="http://schemas.openxmlformats.org/officeDocument/2006/relationships/slide" Target="/ppt/slides/slide4.xml" Id="RelId2" /><Relationship Type="http://schemas.openxmlformats.org/officeDocument/2006/relationships/slide" Target="/ppt/slides/slide5.xml" Id="RelId3" /><Relationship Type="http://schemas.openxmlformats.org/officeDocument/2006/relationships/slide" Target="/ppt/slides/slide6.xml" Id="RelId4" /></Relationships>
</file>

<file path=ppt/notesSlides/notesSlide.xml><?xml version="1.0" encoding="utf-8"?>
<p:notes xmlns:p="http://schemas.openxmlformats.org/presentationml/2006/main">
  <p:cSld>
    <p:spTree>
      <p:nvGrpSpPr>
        <p:cNvPr id="1" name=""/>
        <p:cNvGrpSpPr/>
        <p:nvPr/>
      </p:nvGrpSpPr>
      <p:grpSpPr/>
      <p:sp>
        <p:nvSpPr>
          <p:cNvPr id="2" name="Slide Text"/>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cardVisual</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cardVisual</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cardVisual</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Sales Over Time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Gross Profit Over Time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cardVisual</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Units Sold Over Time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cardVisual</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Number of Complaints Over Time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textbox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textbox</a:t>
            </a:r>
            <a:endParaRPr dirty="0"/>
          </a:p>
          <a:p xmlns:a="http://schemas.openxmlformats.org/drawingml/2006/main">
            <a:r>
              <a:rPr b="0" dirty="0"/>
              <a:t>No alt text provided</a:t>
            </a:r>
            <a:endParaRPr dirty="0"/>
          </a:p>
          <a:p xmlns:a="http://schemas.openxmlformats.org/drawingml/2006/main">
            <a:r>
              <a:rPr b="0" dirty="0"/>
              <a:t/>
            </a:r>
            <a:endParaRPr dirty="0"/>
          </a:p>
        </p:txBody>
      </p:sp>
    </p:spTree>
    <p:clrMapOvr>
      <a:masterClrMapping xmlns:a="http://schemas.openxmlformats.org/drawingml/2006/main"/>
    </p:clrMapOvr>
  </p:cSld>
</p:notes>
</file>

<file path=ppt/notesSlides/notesSlide2.xml><?xml version="1.0" encoding="utf-8"?>
<p:notes xmlns:p="http://schemas.openxmlformats.org/presentationml/2006/main">
  <p:cSld>
    <p:spTree>
      <p:nvGrpSpPr>
        <p:cNvPr id="1" name=""/>
        <p:cNvGrpSpPr/>
        <p:nvPr/>
      </p:nvGrpSpPr>
      <p:grpSpPr/>
      <p:sp>
        <p:nvSpPr>
          <p:cNvPr id="2" name="Slide Text"/>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dirty="0"/>
              <a:t>slicer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slicer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cardVisual</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cardVisual</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cardVisual</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Sales Over Time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Gross Profit Over Time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cardVisual</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Units Sold Over Time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cardVisual</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Number of Complaints Over Time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textbox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textbox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textbox</a:t>
            </a:r>
            <a:endParaRPr dirty="0"/>
          </a:p>
          <a:p xmlns:a="http://schemas.openxmlformats.org/drawingml/2006/main">
            <a:r>
              <a:rPr b="0" dirty="0"/>
              <a:t>No alt text provided</a:t>
            </a:r>
            <a:endParaRPr dirty="0"/>
          </a:p>
          <a:p xmlns:a="http://schemas.openxmlformats.org/drawingml/2006/main">
            <a:r>
              <a:rPr b="0" dirty="0"/>
              <a:t/>
            </a:r>
            <a:endParaRPr dirty="0"/>
          </a:p>
        </p:txBody>
      </p:sp>
    </p:spTree>
    <p:clrMapOvr>
      <a:masterClrMapping xmlns:a="http://schemas.openxmlformats.org/drawingml/2006/main"/>
    </p:clrMapOvr>
  </p:cSld>
</p:notes>
</file>

<file path=ppt/notesSlides/notesSlide3.xml><?xml version="1.0" encoding="utf-8"?>
<p:notes xmlns:p="http://schemas.openxmlformats.org/presentationml/2006/main">
  <p:cSld>
    <p:spTree>
      <p:nvGrpSpPr>
        <p:cNvPr id="1" name=""/>
        <p:cNvGrpSpPr/>
        <p:nvPr/>
      </p:nvGrpSpPr>
      <p:grpSpPr/>
      <p:sp>
        <p:nvSpPr>
          <p:cNvPr id="2" name="Slide Text"/>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dirty="0"/>
              <a:t>Sales and Gross Profit</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textbox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textbox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slicer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slicer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slicer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Units Sold Over Time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textbox</a:t>
            </a:r>
            <a:endParaRPr dirty="0"/>
          </a:p>
          <a:p xmlns:a="http://schemas.openxmlformats.org/drawingml/2006/main">
            <a:r>
              <a:rPr b="0" dirty="0"/>
              <a:t>No alt text provided</a:t>
            </a:r>
            <a:endParaRPr dirty="0"/>
          </a:p>
          <a:p xmlns:a="http://schemas.openxmlformats.org/drawingml/2006/main">
            <a:r>
              <a:rPr b="0" dirty="0"/>
              <a:t/>
            </a:r>
            <a:endParaRPr dirty="0"/>
          </a:p>
        </p:txBody>
      </p:sp>
    </p:spTree>
    <p:clrMapOvr>
      <a:masterClrMapping xmlns:a="http://schemas.openxmlformats.org/drawingml/2006/main"/>
    </p:clrMapOvr>
  </p:cSld>
</p:notes>
</file>

<file path=ppt/notesSlides/notesSlide4.xml><?xml version="1.0" encoding="utf-8"?>
<p:notes xmlns:p="http://schemas.openxmlformats.org/presentationml/2006/main">
  <p:cSld>
    <p:spTree>
      <p:nvGrpSpPr>
        <p:cNvPr id="1" name=""/>
        <p:cNvGrpSpPr/>
        <p:nvPr/>
      </p:nvGrpSpPr>
      <p:grpSpPr/>
      <p:sp>
        <p:nvSpPr>
          <p:cNvPr id="2" name="Slide Text"/>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dirty="0"/>
              <a:t>Sales and Gross Profit</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textbox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textbox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slicer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slicer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slicer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Unit Price Over Time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textbox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textbox</a:t>
            </a:r>
            <a:endParaRPr dirty="0"/>
          </a:p>
          <a:p xmlns:a="http://schemas.openxmlformats.org/drawingml/2006/main">
            <a:r>
              <a:rPr b="0" dirty="0"/>
              <a:t>No alt text provided</a:t>
            </a:r>
            <a:endParaRPr dirty="0"/>
          </a:p>
          <a:p xmlns:a="http://schemas.openxmlformats.org/drawingml/2006/main">
            <a:r>
              <a:rPr b="0" dirty="0"/>
              <a:t/>
            </a:r>
            <a:endParaRPr dirty="0"/>
          </a:p>
        </p:txBody>
      </p:sp>
    </p:spTree>
    <p:clrMapOvr>
      <a:masterClrMapping xmlns:a="http://schemas.openxmlformats.org/drawingml/2006/main"/>
    </p:clrMapOvr>
  </p:cSld>
</p:notes>
</file>

<file path=ppt/notesSlides/notesSlide5.xml><?xml version="1.0" encoding="utf-8"?>
<p:notes xmlns:p="http://schemas.openxmlformats.org/presentationml/2006/main">
  <p:cSld>
    <p:spTree>
      <p:nvGrpSpPr>
        <p:cNvPr id="1" name=""/>
        <p:cNvGrpSpPr/>
        <p:nvPr/>
      </p:nvGrpSpPr>
      <p:grpSpPr/>
      <p:sp>
        <p:nvSpPr>
          <p:cNvPr id="2" name="Slide Text"/>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dirty="0"/>
              <a:t>Configurable Control Chart of Number of Complaints</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textbox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textbox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slicer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slicer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slicer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slicer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cardVisual</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Number of Complaints 2026 YTD By Device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textbox</a:t>
            </a:r>
            <a:endParaRPr dirty="0"/>
          </a:p>
          <a:p xmlns:a="http://schemas.openxmlformats.org/drawingml/2006/main">
            <a:r>
              <a:rPr b="0" dirty="0"/>
              <a:t>No alt text provided</a:t>
            </a:r>
            <a:endParaRPr dirty="0"/>
          </a:p>
          <a:p xmlns:a="http://schemas.openxmlformats.org/drawingml/2006/main">
            <a:r>
              <a:rPr b="0" dirty="0"/>
              <a:t/>
            </a:r>
            <a:endParaRPr dirty="0"/>
          </a:p>
        </p:txBody>
      </p:sp>
    </p:spTree>
    <p:clrMapOvr>
      <a:masterClrMapping xmlns:a="http://schemas.openxmlformats.org/drawingml/2006/main"/>
    </p:clrMapOvr>
  </p:cSld>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627ED9C8-F09A-4D9E-BEC0-4725162E21FF}" type="datetimeFigureOut">
              <a:rPr lang="en-US" smtClean="0"/>
              <a:t>11/25/2020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17476896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27ED9C8-F09A-4D9E-BEC0-4725162E21FF}" type="datetimeFigureOut">
              <a:rPr lang="en-US" smtClean="0"/>
              <a:t>11/25/2020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21449851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627ED9C8-F09A-4D9E-BEC0-4725162E21FF}" type="datetimeFigureOut">
              <a:rPr lang="en-US" smtClean="0"/>
              <a:t>11/25/2020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10268814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627ED9C8-F09A-4D9E-BEC0-4725162E21FF}" type="datetimeFigureOut">
              <a:rPr lang="en-US" smtClean="0"/>
              <a:t>11/25/2020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100433151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627ED9C8-F09A-4D9E-BEC0-4725162E21FF}" type="datetimeFigureOut">
              <a:rPr lang="en-US" smtClean="0"/>
              <a:t>11/25/2020</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9256924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627ED9C8-F09A-4D9E-BEC0-4725162E21FF}" type="datetimeFigureOut">
              <a:rPr lang="en-US" smtClean="0"/>
              <a:t>11/25/2020</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228091396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27ED9C8-F09A-4D9E-BEC0-4725162E21FF}" type="datetimeFigureOut">
              <a:rPr lang="en-US" smtClean="0"/>
              <a:t>11/25/2020</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23581811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627ED9C8-F09A-4D9E-BEC0-4725162E21FF}" type="datetimeFigureOut">
              <a:rPr lang="en-US" smtClean="0"/>
              <a:t>11/25/2020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99339043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627ED9C8-F09A-4D9E-BEC0-4725162E21FF}" type="datetimeFigureOut">
              <a:rPr lang="en-US" smtClean="0"/>
              <a:t>11/25/2020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28848075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27ED9C8-F09A-4D9E-BEC0-4725162E21FF}" type="datetimeFigureOut">
              <a:rPr lang="en-US" smtClean="0"/>
              <a:t>11/25/2020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5532142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27ED9C8-F09A-4D9E-BEC0-4725162E21FF}" type="datetimeFigureOut">
              <a:rPr lang="en-US" smtClean="0"/>
              <a:t>11/25/2020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298264096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p14="http://schemas.microsoft.com/office/powerpoint/2010/main"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27ED9C8-F09A-4D9E-BEC0-4725162E21FF}" type="datetimeFigureOut">
              <a:rPr lang="en-US" smtClean="0"/>
              <a:t>11/25/2020</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C7D807A-D3EC-4DEA-86E2-120E4093F1A6}" type="slidenum">
              <a:rPr lang="en-US" smtClean="0"/>
              <a:t>‹#›</a:t>
            </a:fld>
            <a:endParaRPr lang="en-US"/>
          </a:p>
        </p:txBody>
      </p:sp>
    </p:spTree>
    <p:extLst>
      <p:ext uri="{BB962C8B-B14F-4D97-AF65-F5344CB8AC3E}">
        <p14:creationId xmlns:p14="http://schemas.microsoft.com/office/powerpoint/2010/main" val="142369109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&#65279;<?xml version="1.0" encoding="utf-8"?><Relationships xmlns="http://schemas.openxmlformats.org/package/2006/relationships"><Relationship Type="http://schemas.openxmlformats.org/officeDocument/2006/relationships/image" Target="../media/image1.png" Id="rId2" /><Relationship Type="http://schemas.openxmlformats.org/officeDocument/2006/relationships/slideLayout" Target="../slideLayouts/slideLayout7.xml" Id="rId1" /><Relationship Type="http://schemas.openxmlformats.org/officeDocument/2006/relationships/image" Target="../media/image3.png" Id="rId5" /><Relationship Type="http://schemas.openxmlformats.org/officeDocument/2006/relationships/image" Target="../media/image2.png" Id="rId4" /><Relationship Type="http://schemas.openxmlformats.org/officeDocument/2006/relationships/hyperlink" Target="https://app.powerbi.com/groups/me/reports/d2088ab1-16b4-4fc0-8d72-765be084655e?pbi_source=PowerPoint" TargetMode="External" Id="coverSlideHpLink" /></Relationships>
</file>

<file path=ppt/slides/_rels/slide2.xml.rels>&#65279;<?xml version="1.0" encoding="utf-8"?><Relationships xmlns="http://schemas.openxmlformats.org/package/2006/relationships"><Relationship Type="http://schemas.openxmlformats.org/officeDocument/2006/relationships/notesSlide" Target="/ppt/notesSlides/notesSlide.xml" Id="R5cecb37b39894214" /><Relationship Type="http://schemas.openxmlformats.org/officeDocument/2006/relationships/slideLayout" Target="/ppt/slideLayouts/slideLayout8.xml" Id="R43f09d67e11c4d01" /><Relationship Type="http://schemas.openxmlformats.org/officeDocument/2006/relationships/hyperlink" Target="https://app.powerbi.com/groups/me/reports/d2088ab1-16b4-4fc0-8d72-765be084655e/?pbi_source=PowerPoint" TargetMode="External" Id="RelId0" /><Relationship Type="http://schemas.openxmlformats.org/officeDocument/2006/relationships/image" Target="/ppt/media/image4.png" Id="imgId17012239" /></Relationships>
</file>

<file path=ppt/slides/_rels/slide3.xml.rels>&#65279;<?xml version="1.0" encoding="utf-8"?><Relationships xmlns="http://schemas.openxmlformats.org/package/2006/relationships"><Relationship Type="http://schemas.openxmlformats.org/officeDocument/2006/relationships/notesSlide" Target="/ppt/notesSlides/notesSlide2.xml" Id="R77fc17b7a8ea4af9" /><Relationship Type="http://schemas.openxmlformats.org/officeDocument/2006/relationships/slideLayout" Target="/ppt/slideLayouts/slideLayout8.xml" Id="R97ce1eae1bbe4f49" /><Relationship Type="http://schemas.openxmlformats.org/officeDocument/2006/relationships/hyperlink" Target="https://app.powerbi.com/groups/me/reports/d2088ab1-16b4-4fc0-8d72-765be084655e/?pbi_source=PowerPoint" TargetMode="External" Id="RelId1" /><Relationship Type="http://schemas.openxmlformats.org/officeDocument/2006/relationships/image" Target="/ppt/media/image5.png" Id="imgId17012240" /></Relationships>
</file>

<file path=ppt/slides/_rels/slide4.xml.rels>&#65279;<?xml version="1.0" encoding="utf-8"?><Relationships xmlns="http://schemas.openxmlformats.org/package/2006/relationships"><Relationship Type="http://schemas.openxmlformats.org/officeDocument/2006/relationships/notesSlide" Target="/ppt/notesSlides/notesSlide3.xml" Id="Rc06d58e0df2f4ca6" /><Relationship Type="http://schemas.openxmlformats.org/officeDocument/2006/relationships/slideLayout" Target="/ppt/slideLayouts/slideLayout8.xml" Id="Re55967fe7ac84198" /><Relationship Type="http://schemas.openxmlformats.org/officeDocument/2006/relationships/hyperlink" Target="https://app.powerbi.com/groups/me/reports/d2088ab1-16b4-4fc0-8d72-765be084655e/?pbi_source=PowerPoint" TargetMode="External" Id="RelId2" /><Relationship Type="http://schemas.openxmlformats.org/officeDocument/2006/relationships/image" Target="/ppt/media/image6.png" Id="imgId17012241" /></Relationships>
</file>

<file path=ppt/slides/_rels/slide5.xml.rels>&#65279;<?xml version="1.0" encoding="utf-8"?><Relationships xmlns="http://schemas.openxmlformats.org/package/2006/relationships"><Relationship Type="http://schemas.openxmlformats.org/officeDocument/2006/relationships/notesSlide" Target="/ppt/notesSlides/notesSlide4.xml" Id="R1121d61491e84238" /><Relationship Type="http://schemas.openxmlformats.org/officeDocument/2006/relationships/slideLayout" Target="/ppt/slideLayouts/slideLayout8.xml" Id="Re538d58e650a43c4" /><Relationship Type="http://schemas.openxmlformats.org/officeDocument/2006/relationships/hyperlink" Target="https://app.powerbi.com/groups/me/reports/d2088ab1-16b4-4fc0-8d72-765be084655e/?pbi_source=PowerPoint" TargetMode="External" Id="RelId3" /><Relationship Type="http://schemas.openxmlformats.org/officeDocument/2006/relationships/image" Target="/ppt/media/image7.png" Id="imgId17012242" /></Relationships>
</file>

<file path=ppt/slides/_rels/slide6.xml.rels>&#65279;<?xml version="1.0" encoding="utf-8"?><Relationships xmlns="http://schemas.openxmlformats.org/package/2006/relationships"><Relationship Type="http://schemas.openxmlformats.org/officeDocument/2006/relationships/notesSlide" Target="/ppt/notesSlides/notesSlide5.xml" Id="R5585aaa874794853" /><Relationship Type="http://schemas.openxmlformats.org/officeDocument/2006/relationships/slideLayout" Target="/ppt/slideLayouts/slideLayout8.xml" Id="R39debe7f3d9f40f9" /><Relationship Type="http://schemas.openxmlformats.org/officeDocument/2006/relationships/hyperlink" Target="https://app.powerbi.com/groups/me/reports/d2088ab1-16b4-4fc0-8d72-765be084655e/?pbi_source=PowerPoint" TargetMode="External" Id="RelId4" /><Relationship Type="http://schemas.openxmlformats.org/officeDocument/2006/relationships/image" Target="/ppt/media/image8.png" Id="imgId17012243" /></Relationships>
</file>

<file path=ppt/slides/slide1.xml><?xml version="1.0" encoding="utf-8"?>
<p:sld xmlns:adec="http://schemas.microsoft.com/office/drawing/2017/decorative" xmlns:a14="http://schemas.microsoft.com/office/drawing/2010/main" xmlns:p14="http://schemas.microsoft.com/office/powerpoint/2010/main"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pic>
        <p:nvPicPr>
          <p:cNvPr id="9" name="Picture 8">
            <a:extLst>
              <a:ext uri="{C183D7F6-B498-43B3-948B-1728B52AA6E4}">
                <adec:decorative xmlns:adec="http://schemas.microsoft.com/office/drawing/2017/decorative" val="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2" name="Title 1"/>
          <p:cNvSpPr txBox="1">
            <a:spLocks noGrp="1"/>
          </p:cNvSpPr>
          <p:nvPr>
            <p:ph type="title" idx="4294967295"/>
          </p:nvPr>
        </p:nvSpPr>
        <p:spPr>
          <a:xfrm>
            <a:off x="810584" y="2982149"/>
            <a:ext cx="6314017" cy="600075"/>
          </a:xfrm>
          <a:prstGeom prst="rect">
            <a:avLst/>
          </a:prstGeom>
          <a:noFill/>
          <a:ln>
            <a:noFill/>
            <a:prstDash/>
          </a:ln>
          <a:effectLst/>
        </p:spPr>
        <p:txBody>
          <a:bodyPr rot="0" spcFirstLastPara="0" vertOverflow="overflow" horzOverflow="overflow" vert="horz" wrap="square" lIns="91440" tIns="45720" rIns="91440" bIns="45720" numCol="1" spcCol="0" rtlCol="0" fromWordArt="0" anchor="b" anchorCtr="0" forceAA="0" compatLnSpc="1">
            <a:prstTxWarp prst="textNoShape">
              <a:avLst/>
            </a:prstTxWarp>
            <a:normAutofit fontScale="90000"/>
          </a:bodyPr>
          <a:lstStyle>
            <a:lvl1pPr algn="ctr" defTabSz="914400" rtl="0" eaLnBrk="1" latinLnBrk="0" hangingPunct="1">
              <a:lnSpc>
                <a:spcPct val="90000"/>
              </a:lnSpc>
              <a:spcBef>
                <a:spcPct val="0"/>
              </a:spcBef>
              <a:buNone/>
              <a:defRPr sz="4400" b="0" i="0" kern="1200" baseline="0">
                <a:solidFill>
                  <a:schemeClr val="tx1"/>
                </a:solidFill>
                <a:latin typeface="Segoe UI Light" charset="0"/>
                <a:ea typeface="Segoe UI Light" charset="0"/>
                <a:cs typeface="Segoe UI Light" charset="0"/>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4400" b="0" i="0" u="none" strike="noStrike" kern="1200" cap="none" spc="0" normalizeH="0" baseline="0" noProof="0">
                <a:ln>
                  <a:noFill/>
                </a:ln>
                <a:solidFill>
                  <a:srgbClr val="F3C910"/>
                </a:solidFill>
                <a:effectLst/>
                <a:uLnTx/>
                <a:uFillTx/>
                <a:latin typeface="Segoe UI Light" charset="0"/>
                <a:ea typeface="Segoe UI Light" charset="0"/>
                <a:cs typeface="Segoe UI Light" charset="0"/>
              </a:rPr>
              <a:t>mock data model, dashboard, reports, by Apurva Dave, 9 Apr 2026</a:t>
            </a:r>
            <a:endParaRPr kumimoji="0" lang="en-US" sz="4400" b="0" i="0" u="none" strike="noStrike" kern="1200" cap="none" spc="0" normalizeH="0" baseline="0" noProof="0" dirty="0">
              <a:ln>
                <a:noFill/>
              </a:ln>
              <a:solidFill>
                <a:srgbClr val="F3C910"/>
              </a:solidFill>
              <a:effectLst/>
              <a:uLnTx/>
              <a:uFillTx/>
              <a:latin typeface="Segoe UI Light" charset="0"/>
              <a:ea typeface="Segoe UI Light" charset="0"/>
              <a:cs typeface="Segoe UI Light" charset="0"/>
            </a:endParaRPr>
          </a:p>
        </p:txBody>
      </p:sp>
      <p:sp>
        <p:nvSpPr>
          <p:cNvPr id="13" name="Text Placeholder 2"/>
          <p:cNvSpPr txBox="1">
            <a:spLocks/>
          </p:cNvSpPr>
          <p:nvPr/>
        </p:nvSpPr>
        <p:spPr>
          <a:xfrm>
            <a:off x="853448" y="3658761"/>
            <a:ext cx="1488017" cy="253470"/>
          </a:xfrm>
          <a:prstGeom prst="rect">
            <a:avLst/>
          </a:prstGeom>
        </p:spPr>
        <p:txBody>
          <a:bodyPr vert="horz" lIns="91440" tIns="45720" rIns="91440" bIns="45720" rtlCol="0">
            <a:normAutofit lnSpcReduction="10000"/>
          </a:bodyPr>
          <a:lstStyle>
            <a:lvl1pPr marL="0" indent="0" algn="ctr" defTabSz="914400" rtl="0" eaLnBrk="1" latinLnBrk="0" hangingPunct="1">
              <a:lnSpc>
                <a:spcPct val="90000"/>
              </a:lnSpc>
              <a:spcBef>
                <a:spcPts val="1000"/>
              </a:spcBef>
              <a:buFont typeface="Arial"/>
              <a:buNone/>
              <a:defRPr sz="1200" b="0" i="0" u="sng" kern="1200">
                <a:solidFill>
                  <a:schemeClr val="tx1"/>
                </a:solidFill>
                <a:latin typeface="Segoe UI" charset="0"/>
                <a:ea typeface="Segoe UI" charset="0"/>
                <a:cs typeface="Segoe UI" charset="0"/>
              </a:defRPr>
            </a:lvl1pPr>
            <a:lvl2pPr marL="457200" indent="0" algn="ctr" defTabSz="914400" rtl="0" eaLnBrk="1" latinLnBrk="0" hangingPunct="1">
              <a:lnSpc>
                <a:spcPct val="90000"/>
              </a:lnSpc>
              <a:spcBef>
                <a:spcPts val="500"/>
              </a:spcBef>
              <a:buFont typeface="Arial"/>
              <a:buNone/>
              <a:defRPr sz="2000" kern="1200">
                <a:solidFill>
                  <a:schemeClr val="tx1">
                    <a:tint val="75000"/>
                  </a:schemeClr>
                </a:solidFill>
                <a:latin typeface="+mn-lt"/>
                <a:ea typeface="+mn-ea"/>
                <a:cs typeface="+mn-cs"/>
              </a:defRPr>
            </a:lvl2pPr>
            <a:lvl3pPr marL="914400" indent="0" algn="ctr" defTabSz="914400" rtl="0" eaLnBrk="1" latinLnBrk="0" hangingPunct="1">
              <a:lnSpc>
                <a:spcPct val="90000"/>
              </a:lnSpc>
              <a:spcBef>
                <a:spcPts val="500"/>
              </a:spcBef>
              <a:buFont typeface="Arial"/>
              <a:buNone/>
              <a:defRPr sz="1800" kern="1200">
                <a:solidFill>
                  <a:schemeClr val="tx1">
                    <a:tint val="75000"/>
                  </a:schemeClr>
                </a:solidFill>
                <a:latin typeface="+mn-lt"/>
                <a:ea typeface="+mn-ea"/>
                <a:cs typeface="+mn-cs"/>
              </a:defRPr>
            </a:lvl3pPr>
            <a:lvl4pPr marL="1371600" indent="0" algn="ctr" defTabSz="914400" rtl="0" eaLnBrk="1" latinLnBrk="0" hangingPunct="1">
              <a:lnSpc>
                <a:spcPct val="90000"/>
              </a:lnSpc>
              <a:spcBef>
                <a:spcPts val="500"/>
              </a:spcBef>
              <a:buFont typeface="Arial"/>
              <a:buNone/>
              <a:defRPr sz="1600" kern="1200">
                <a:solidFill>
                  <a:schemeClr val="tx1">
                    <a:tint val="75000"/>
                  </a:schemeClr>
                </a:solidFill>
                <a:latin typeface="+mn-lt"/>
                <a:ea typeface="+mn-ea"/>
                <a:cs typeface="+mn-cs"/>
              </a:defRPr>
            </a:lvl4pPr>
            <a:lvl5pPr marL="1828800" indent="0" algn="ctr" defTabSz="914400" rtl="0" eaLnBrk="1" latinLnBrk="0" hangingPunct="1">
              <a:lnSpc>
                <a:spcPct val="90000"/>
              </a:lnSpc>
              <a:spcBef>
                <a:spcPts val="500"/>
              </a:spcBef>
              <a:buFont typeface="Arial"/>
              <a:buNone/>
              <a:defRPr sz="1600" kern="1200">
                <a:solidFill>
                  <a:schemeClr val="tx1">
                    <a:tint val="75000"/>
                  </a:schemeClr>
                </a:solidFill>
                <a:latin typeface="+mn-lt"/>
                <a:ea typeface="+mn-ea"/>
                <a:cs typeface="+mn-cs"/>
              </a:defRPr>
            </a:lvl5pPr>
            <a:lvl6pPr marL="2286000" indent="0" algn="ctr" defTabSz="914400" rtl="0" eaLnBrk="1" latinLnBrk="0" hangingPunct="1">
              <a:lnSpc>
                <a:spcPct val="90000"/>
              </a:lnSpc>
              <a:spcBef>
                <a:spcPts val="500"/>
              </a:spcBef>
              <a:buFont typeface="Arial"/>
              <a:buNone/>
              <a:defRPr sz="1600" kern="1200">
                <a:solidFill>
                  <a:schemeClr val="tx1">
                    <a:tint val="75000"/>
                  </a:schemeClr>
                </a:solidFill>
                <a:latin typeface="+mn-lt"/>
                <a:ea typeface="+mn-ea"/>
                <a:cs typeface="+mn-cs"/>
              </a:defRPr>
            </a:lvl6pPr>
            <a:lvl7pPr marL="2743200" indent="0" algn="ctr" defTabSz="914400" rtl="0" eaLnBrk="1" latinLnBrk="0" hangingPunct="1">
              <a:lnSpc>
                <a:spcPct val="90000"/>
              </a:lnSpc>
              <a:spcBef>
                <a:spcPts val="500"/>
              </a:spcBef>
              <a:buFont typeface="Arial"/>
              <a:buNone/>
              <a:defRPr sz="1600" kern="1200">
                <a:solidFill>
                  <a:schemeClr val="tx1">
                    <a:tint val="75000"/>
                  </a:schemeClr>
                </a:solidFill>
                <a:latin typeface="+mn-lt"/>
                <a:ea typeface="+mn-ea"/>
                <a:cs typeface="+mn-cs"/>
              </a:defRPr>
            </a:lvl7pPr>
            <a:lvl8pPr marL="3200400" indent="0" algn="ctr" defTabSz="914400" rtl="0" eaLnBrk="1" latinLnBrk="0" hangingPunct="1">
              <a:lnSpc>
                <a:spcPct val="90000"/>
              </a:lnSpc>
              <a:spcBef>
                <a:spcPts val="500"/>
              </a:spcBef>
              <a:buFont typeface="Arial"/>
              <a:buNone/>
              <a:defRPr sz="1600" kern="1200">
                <a:solidFill>
                  <a:schemeClr val="tx1">
                    <a:tint val="75000"/>
                  </a:schemeClr>
                </a:solidFill>
                <a:latin typeface="+mn-lt"/>
                <a:ea typeface="+mn-ea"/>
                <a:cs typeface="+mn-cs"/>
              </a:defRPr>
            </a:lvl8pPr>
            <a:lvl9pPr marL="3657600" indent="0" algn="ctr" defTabSz="914400" rtl="0" eaLnBrk="1" latinLnBrk="0" hangingPunct="1">
              <a:lnSpc>
                <a:spcPct val="90000"/>
              </a:lnSpc>
              <a:spcBef>
                <a:spcPts val="500"/>
              </a:spcBef>
              <a:buFont typeface="Arial"/>
              <a:buNone/>
              <a:defRPr sz="1600" kern="1200">
                <a:solidFill>
                  <a:schemeClr val="tx1">
                    <a:tint val="75000"/>
                  </a:schemeClr>
                </a:solidFill>
                <a:latin typeface="+mn-lt"/>
                <a:ea typeface="+mn-ea"/>
                <a:cs typeface="+mn-cs"/>
              </a:defRPr>
            </a:lvl9pPr>
          </a:lstStyle>
          <a:p>
            <a:pPr algn="l"/>
            <a:r>
              <a:rPr lang="en-US" dirty="0">
                <a:solidFill>
                  <a:schemeClr val="bg1"/>
                </a:solidFill>
                <a:hlinkClick r:id="coverSlideHpLink"/>
              </a:rPr>
              <a:t>View in Power BI</a:t>
            </a:r>
            <a:endParaRPr lang="en-US" dirty="0">
              <a:solidFill>
                <a:schemeClr val="bg1"/>
              </a:solidFill>
            </a:endParaRPr>
          </a:p>
        </p:txBody>
      </p:sp>
      <p:sp>
        <p:nvSpPr>
          <p:cNvPr id="17" name="TextBox 16"/>
          <p:cNvSpPr txBox="1"/>
          <p:nvPr/>
        </p:nvSpPr>
        <p:spPr>
          <a:xfrm>
            <a:off x="832315" y="5823544"/>
            <a:ext cx="2177716" cy="369332"/>
          </a:xfrm>
          <a:prstGeom prst="rect">
            <a:avLst/>
          </a:prstGeom>
          <a:noFill/>
        </p:spPr>
        <p:txBody>
          <a:bodyPr wrap="square" rtlCol="0">
            <a:spAutoFit/>
          </a:bodyPr>
          <a:lstStyle/>
          <a:p>
            <a:r>
              <a:rPr lang="en-US" sz="900" b="1" i="0" dirty="0">
                <a:solidFill>
                  <a:schemeClr val="bg1"/>
                </a:solidFill>
                <a:latin typeface="Segoe UI Semibold" charset="0"/>
                <a:ea typeface="Segoe UI Semibold" charset="0"/>
                <a:cs typeface="Segoe UI Semibold" charset="0"/>
              </a:rPr>
              <a:t>Downloaded at:</a:t>
            </a:r>
          </a:p>
          <a:p>
            <a:r>
              <a:rPr lang="en-US" sz="900" b="0" i="0" dirty="0">
                <a:solidFill>
                  <a:schemeClr val="bg1"/>
                </a:solidFill>
                <a:latin typeface="Segoe UI" charset="0"/>
                <a:ea typeface="Segoe UI" charset="0"/>
                <a:cs typeface="Segoe UI" charset="0"/>
              </a:rPr>
              <a:t>4/9/2026 7:15:31 PM UTC</a:t>
            </a:r>
          </a:p>
        </p:txBody>
      </p:sp>
      <p:sp>
        <p:nvSpPr>
          <p:cNvPr id="10" name="TextBox 9"/>
          <p:cNvSpPr txBox="1"/>
          <p:nvPr/>
        </p:nvSpPr>
        <p:spPr>
          <a:xfrm>
            <a:off x="828512" y="5407903"/>
            <a:ext cx="2177716" cy="369332"/>
          </a:xfrm>
          <a:prstGeom prst="rect">
            <a:avLst/>
          </a:prstGeom>
          <a:noFill/>
        </p:spPr>
        <p:txBody>
          <a:bodyPr wrap="square" rtlCol="0">
            <a:spAutoFit/>
          </a:bodyPr>
          <a:lstStyle/>
          <a:p>
            <a:r>
              <a:rPr lang="en-US" sz="900" b="1" dirty="0">
                <a:solidFill>
                  <a:schemeClr val="bg1"/>
                </a:solidFill>
                <a:latin typeface="Segoe UI Semibold" charset="0"/>
                <a:ea typeface="Segoe UI Semibold" charset="0"/>
                <a:cs typeface="Segoe UI Semibold" charset="0"/>
              </a:rPr>
              <a:t>Last data refresh:</a:t>
            </a:r>
            <a:endParaRPr lang="en-US" sz="900" b="1" i="0" dirty="0">
              <a:solidFill>
                <a:schemeClr val="bg1"/>
              </a:solidFill>
              <a:latin typeface="Segoe UI Semibold" charset="0"/>
              <a:ea typeface="Segoe UI Semibold" charset="0"/>
              <a:cs typeface="Segoe UI Semibold" charset="0"/>
            </a:endParaRPr>
          </a:p>
          <a:p>
            <a:r>
              <a:rPr lang="en-US" sz="900" dirty="0">
                <a:solidFill>
                  <a:schemeClr val="bg1"/>
                </a:solidFill>
                <a:latin typeface="Segoe UI" charset="0"/>
                <a:ea typeface="Segoe UI" charset="0"/>
                <a:cs typeface="Segoe UI" charset="0"/>
              </a:rPr>
              <a:t>4/9/2026 4:19:25 PM UTC</a:t>
            </a:r>
            <a:endParaRPr lang="en-US" sz="900" b="0" i="0" dirty="0">
              <a:solidFill>
                <a:schemeClr val="bg1"/>
              </a:solidFill>
              <a:latin typeface="Segoe UI" charset="0"/>
              <a:ea typeface="Segoe UI" charset="0"/>
              <a:cs typeface="Segoe UI" charset="0"/>
            </a:endParaRPr>
          </a:p>
        </p:txBody>
      </p:sp>
      <p:pic>
        <p:nvPicPr>
          <p:cNvPr id="16" name="Picture 15" descr="Microsoft Power BI"/>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23544" y="722376"/>
            <a:ext cx="1490690" cy="245805"/>
          </a:xfrm>
          <a:prstGeom prst="rect">
            <a:avLst/>
          </a:prstGeom>
        </p:spPr>
      </p:pic>
      <p:pic>
        <p:nvPicPr>
          <p:cNvPr id="18" name="Picture 17">
            <a:extLst>
              <a:ext uri="{C183D7F6-B498-43B3-948B-1728B52AA6E4}">
                <adec:decorative xmlns:adec="http://schemas.microsoft.com/office/drawing/2017/decorative" val="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139696" y="3694176"/>
            <a:ext cx="162027" cy="153025"/>
          </a:xfrm>
          <a:prstGeom prst="rect">
            <a:avLst/>
          </a:prstGeom>
        </p:spPr>
      </p:pic>
    </p:spTree>
    <p:extLst>
      <p:ext uri="{BB962C8B-B14F-4D97-AF65-F5344CB8AC3E}">
        <p14:creationId xmlns:p14="http://schemas.microsoft.com/office/powerpoint/2010/main" val="7630729"/>
      </p:ext>
    </p:extLst>
  </p:cSld>
  <p:clrMapOvr>
    <a:masterClrMapping/>
  </p:clrMapOvr>
</p:sld>
</file>

<file path=ppt/slides/slide2.xml><?xml version="1.0" encoding="utf-8"?>
<p:sld xmlns:p="http://schemas.openxmlformats.org/presentationml/2006/main">
  <p:cSld>
    <p:spTree>
      <p:nvGrpSpPr>
        <p:cNvPr id="1" name=""/>
        <p:cNvGrpSpPr/>
        <p:nvPr/>
      </p:nvGrpSpPr>
      <p:grpSpPr/>
      <p:pic>
        <p:nvPicPr>
          <p:cNvPr id="3" name="Picture" title="This slide contains the following visuals: shape ,shape ,shape ,cardVisual ,cardVisual ,cardVisual ,Sales Over Time ,Gross Profit Over Time ,cardVisual ,Units Sold Over Time ,cardVisual ,Number of Complaints Over Time ,shape ,textbox ,shape ,shape ,shape ,shape ,textbox. Please refer to the notes on this slide for details">
            <a:hlinkClick xmlns:r="http://schemas.openxmlformats.org/officeDocument/2006/relationships" xmlns:a="http://schemas.openxmlformats.org/drawingml/2006/main" r:id="RelId0"/>
          </p:cNvPr>
          <p:cNvPicPr>
            <a:picLocks xmlns:a="http://schemas.openxmlformats.org/drawingml/2006/main" noChangeAspect="1"/>
          </p:cNvPicPr>
          <p:nvPr/>
        </p:nvPicPr>
        <p:blipFill>
          <a:blip xmlns:r="http://schemas.openxmlformats.org/officeDocument/2006/relationships" xmlns:a="http://schemas.openxmlformats.org/drawingml/2006/main" r:embed="imgId17012239"/>
          <a:stretch xmlns:a="http://schemas.openxmlformats.org/drawingml/2006/main">
            <a:fillRect/>
          </a:stretch>
        </p:blipFill>
        <p:spPr>
          <a:xfrm xmlns:a="http://schemas.openxmlformats.org/drawingml/2006/main">
            <a:off x="76200" y="0"/>
            <a:ext cx="12020550" cy="6858000"/>
          </a:xfrm>
          <a:prstGeom xmlns:a="http://schemas.openxmlformats.org/drawingml/2006/main" prst="rect">
            <a:avLst/>
          </a:prstGeom>
          <a:noFill xmlns:a="http://schemas.openxmlformats.org/drawingml/2006/main"/>
        </p:spPr>
      </p:pic>
      <p:sp>
        <p:nvSpPr>
          <p:cNvPr id="4" name="Title" hidden="1"/>
          <p:cNvSpPr>
            <a:spLocks xmlns:a="http://schemas.openxmlformats.org/drawingml/2006/main" noGrp="1"/>
          </p:cNvSpPr>
          <p:nvPr>
            <p:ph type="title"/>
          </p:nvPr>
        </p:nvSpPr>
        <p:spPr/>
        <p:txBody>
          <a:bodyPr xmlns:a="http://schemas.openxmlformats.org/drawingml/2006/main"/>
          <a:lstStyle xmlns:a="http://schemas.openxmlformats.org/drawingml/2006/main"/>
          <a:p xmlns:a="http://schemas.openxmlformats.org/drawingml/2006/main">
            <a:r>
              <a:t>Dashboard</a:t>
            </a:r>
          </a:p>
        </p:txBody>
      </p:sp>
    </p:spTree>
    <p:clrMapOvr>
      <a:masterClrMapping xmlns:a="http://schemas.openxmlformats.org/drawingml/2006/main"/>
    </p:clrMapOvr>
  </p:cSld>
</p:sld>
</file>

<file path=ppt/slides/slide3.xml><?xml version="1.0" encoding="utf-8"?>
<p:sld xmlns:p="http://schemas.openxmlformats.org/presentationml/2006/main">
  <p:cSld>
    <p:spTree>
      <p:nvGrpSpPr>
        <p:cNvPr id="1" name=""/>
        <p:cNvGrpSpPr/>
        <p:nvPr/>
      </p:nvGrpSpPr>
      <p:grpSpPr/>
      <p:pic>
        <p:nvPicPr>
          <p:cNvPr id="3" name="Picture" title="This slide contains the following visuals: slicer ,slicer ,shape ,cardVisual ,cardVisual ,cardVisual ,Sales Over Time ,Gross Profit Over Time ,cardVisual ,Units Sold Over Time ,cardVisual ,Number of Complaints Over Time ,shape ,textbox ,shape ,shape ,textbox ,textbox. Please refer to the notes on this slide for details">
            <a:hlinkClick xmlns:r="http://schemas.openxmlformats.org/officeDocument/2006/relationships" xmlns:a="http://schemas.openxmlformats.org/drawingml/2006/main" r:id="RelId1"/>
          </p:cNvPr>
          <p:cNvPicPr>
            <a:picLocks xmlns:a="http://schemas.openxmlformats.org/drawingml/2006/main" noChangeAspect="1"/>
          </p:cNvPicPr>
          <p:nvPr/>
        </p:nvPicPr>
        <p:blipFill>
          <a:blip xmlns:r="http://schemas.openxmlformats.org/officeDocument/2006/relationships" xmlns:a="http://schemas.openxmlformats.org/drawingml/2006/main" r:embed="imgId17012240"/>
          <a:stretch xmlns:a="http://schemas.openxmlformats.org/drawingml/2006/main">
            <a:fillRect/>
          </a:stretch>
        </p:blipFill>
        <p:spPr>
          <a:xfrm xmlns:a="http://schemas.openxmlformats.org/drawingml/2006/main">
            <a:off x="76200" y="0"/>
            <a:ext cx="12020550" cy="6858000"/>
          </a:xfrm>
          <a:prstGeom xmlns:a="http://schemas.openxmlformats.org/drawingml/2006/main" prst="rect">
            <a:avLst/>
          </a:prstGeom>
          <a:noFill xmlns:a="http://schemas.openxmlformats.org/drawingml/2006/main"/>
        </p:spPr>
      </p:pic>
      <p:sp>
        <p:nvSpPr>
          <p:cNvPr id="4" name="Title" hidden="1"/>
          <p:cNvSpPr>
            <a:spLocks xmlns:a="http://schemas.openxmlformats.org/drawingml/2006/main" noGrp="1"/>
          </p:cNvSpPr>
          <p:nvPr>
            <p:ph type="title"/>
          </p:nvPr>
        </p:nvSpPr>
        <p:spPr/>
        <p:txBody>
          <a:bodyPr xmlns:a="http://schemas.openxmlformats.org/drawingml/2006/main"/>
          <a:lstStyle xmlns:a="http://schemas.openxmlformats.org/drawingml/2006/main"/>
          <a:p xmlns:a="http://schemas.openxmlformats.org/drawingml/2006/main">
            <a:r>
              <a:t>Overview Filterable by Device, Country</a:t>
            </a:r>
          </a:p>
        </p:txBody>
      </p:sp>
    </p:spTree>
    <p:clrMapOvr>
      <a:masterClrMapping xmlns:a="http://schemas.openxmlformats.org/drawingml/2006/main"/>
    </p:clrMapOvr>
  </p:cSld>
</p:sld>
</file>

<file path=ppt/slides/slide4.xml><?xml version="1.0" encoding="utf-8"?>
<p:sld xmlns:p="http://schemas.openxmlformats.org/presentationml/2006/main">
  <p:cSld>
    <p:spTree>
      <p:nvGrpSpPr>
        <p:cNvPr id="1" name=""/>
        <p:cNvGrpSpPr/>
        <p:nvPr/>
      </p:nvGrpSpPr>
      <p:grpSpPr/>
      <p:pic>
        <p:nvPicPr>
          <p:cNvPr id="3" name="Picture" title="This slide contains the following visuals: Sales and Gross Profit ,textbox ,textbox ,slicer ,slicer ,slicer ,Units Sold Over Time ,shape ,textbox. Please refer to the notes on this slide for details">
            <a:hlinkClick xmlns:r="http://schemas.openxmlformats.org/officeDocument/2006/relationships" xmlns:a="http://schemas.openxmlformats.org/drawingml/2006/main" r:id="RelId2"/>
          </p:cNvPr>
          <p:cNvPicPr>
            <a:picLocks xmlns:a="http://schemas.openxmlformats.org/drawingml/2006/main" noChangeAspect="1"/>
          </p:cNvPicPr>
          <p:nvPr/>
        </p:nvPicPr>
        <p:blipFill>
          <a:blip xmlns:r="http://schemas.openxmlformats.org/officeDocument/2006/relationships" xmlns:a="http://schemas.openxmlformats.org/drawingml/2006/main" r:embed="imgId17012241"/>
          <a:stretch xmlns:a="http://schemas.openxmlformats.org/drawingml/2006/main">
            <a:fillRect/>
          </a:stretch>
        </p:blipFill>
        <p:spPr>
          <a:xfrm xmlns:a="http://schemas.openxmlformats.org/drawingml/2006/main">
            <a:off x="76200" y="0"/>
            <a:ext cx="12020550" cy="6858000"/>
          </a:xfrm>
          <a:prstGeom xmlns:a="http://schemas.openxmlformats.org/drawingml/2006/main" prst="rect">
            <a:avLst/>
          </a:prstGeom>
          <a:noFill xmlns:a="http://schemas.openxmlformats.org/drawingml/2006/main"/>
        </p:spPr>
      </p:pic>
      <p:sp>
        <p:nvSpPr>
          <p:cNvPr id="4" name="Title" hidden="1"/>
          <p:cNvSpPr>
            <a:spLocks xmlns:a="http://schemas.openxmlformats.org/drawingml/2006/main" noGrp="1"/>
          </p:cNvSpPr>
          <p:nvPr>
            <p:ph type="title"/>
          </p:nvPr>
        </p:nvSpPr>
        <p:spPr/>
        <p:txBody>
          <a:bodyPr xmlns:a="http://schemas.openxmlformats.org/drawingml/2006/main"/>
          <a:lstStyle xmlns:a="http://schemas.openxmlformats.org/drawingml/2006/main"/>
          <a:p xmlns:a="http://schemas.openxmlformats.org/drawingml/2006/main">
            <a:r>
              <a:t>Sales and Gross Profit</a:t>
            </a:r>
          </a:p>
        </p:txBody>
      </p:sp>
    </p:spTree>
    <p:clrMapOvr>
      <a:masterClrMapping xmlns:a="http://schemas.openxmlformats.org/drawingml/2006/main"/>
    </p:clrMapOvr>
  </p:cSld>
</p:sld>
</file>

<file path=ppt/slides/slide5.xml><?xml version="1.0" encoding="utf-8"?>
<p:sld xmlns:p="http://schemas.openxmlformats.org/presentationml/2006/main">
  <p:cSld>
    <p:spTree>
      <p:nvGrpSpPr>
        <p:cNvPr id="1" name=""/>
        <p:cNvGrpSpPr/>
        <p:nvPr/>
      </p:nvGrpSpPr>
      <p:grpSpPr/>
      <p:pic>
        <p:nvPicPr>
          <p:cNvPr id="3" name="Picture" title="This slide contains the following visuals: Sales and Gross Profit ,textbox ,textbox ,slicer ,slicer ,slicer ,Unit Price Over Time ,shape ,textbox ,textbox. Please refer to the notes on this slide for details">
            <a:hlinkClick xmlns:r="http://schemas.openxmlformats.org/officeDocument/2006/relationships" xmlns:a="http://schemas.openxmlformats.org/drawingml/2006/main" r:id="RelId3"/>
          </p:cNvPr>
          <p:cNvPicPr>
            <a:picLocks xmlns:a="http://schemas.openxmlformats.org/drawingml/2006/main" noChangeAspect="1"/>
          </p:cNvPicPr>
          <p:nvPr/>
        </p:nvPicPr>
        <p:blipFill>
          <a:blip xmlns:r="http://schemas.openxmlformats.org/officeDocument/2006/relationships" xmlns:a="http://schemas.openxmlformats.org/drawingml/2006/main" r:embed="imgId17012242"/>
          <a:stretch xmlns:a="http://schemas.openxmlformats.org/drawingml/2006/main">
            <a:fillRect/>
          </a:stretch>
        </p:blipFill>
        <p:spPr>
          <a:xfrm xmlns:a="http://schemas.openxmlformats.org/drawingml/2006/main">
            <a:off x="76200" y="0"/>
            <a:ext cx="12020550" cy="6858000"/>
          </a:xfrm>
          <a:prstGeom xmlns:a="http://schemas.openxmlformats.org/drawingml/2006/main" prst="rect">
            <a:avLst/>
          </a:prstGeom>
          <a:noFill xmlns:a="http://schemas.openxmlformats.org/drawingml/2006/main"/>
        </p:spPr>
      </p:pic>
      <p:sp>
        <p:nvSpPr>
          <p:cNvPr id="4" name="Title" hidden="1"/>
          <p:cNvSpPr>
            <a:spLocks xmlns:a="http://schemas.openxmlformats.org/drawingml/2006/main" noGrp="1"/>
          </p:cNvSpPr>
          <p:nvPr>
            <p:ph type="title"/>
          </p:nvPr>
        </p:nvSpPr>
        <p:spPr/>
        <p:txBody>
          <a:bodyPr xmlns:a="http://schemas.openxmlformats.org/drawingml/2006/main"/>
          <a:lstStyle xmlns:a="http://schemas.openxmlformats.org/drawingml/2006/main"/>
          <a:p xmlns:a="http://schemas.openxmlformats.org/drawingml/2006/main">
            <a:r>
              <a:t>Per Unit Data</a:t>
            </a:r>
          </a:p>
        </p:txBody>
      </p:sp>
    </p:spTree>
    <p:clrMapOvr>
      <a:masterClrMapping xmlns:a="http://schemas.openxmlformats.org/drawingml/2006/main"/>
    </p:clrMapOvr>
  </p:cSld>
</p:sld>
</file>

<file path=ppt/slides/slide6.xml><?xml version="1.0" encoding="utf-8"?>
<p:sld xmlns:p="http://schemas.openxmlformats.org/presentationml/2006/main">
  <p:cSld>
    <p:spTree>
      <p:nvGrpSpPr>
        <p:cNvPr id="1" name=""/>
        <p:cNvGrpSpPr/>
        <p:nvPr/>
      </p:nvGrpSpPr>
      <p:grpSpPr/>
      <p:pic>
        <p:nvPicPr>
          <p:cNvPr id="3" name="Picture" title="This slide contains the following visuals: Configurable Control Chart of Number of Complaints ,textbox ,textbox ,slicer ,slicer ,slicer ,slicer ,cardVisual ,Number of Complaints 2026 YTD By Device ,shape ,textbox. Please refer to the notes on this slide for details">
            <a:hlinkClick xmlns:r="http://schemas.openxmlformats.org/officeDocument/2006/relationships" xmlns:a="http://schemas.openxmlformats.org/drawingml/2006/main" r:id="RelId4"/>
          </p:cNvPr>
          <p:cNvPicPr>
            <a:picLocks xmlns:a="http://schemas.openxmlformats.org/drawingml/2006/main" noChangeAspect="1"/>
          </p:cNvPicPr>
          <p:nvPr/>
        </p:nvPicPr>
        <p:blipFill>
          <a:blip xmlns:r="http://schemas.openxmlformats.org/officeDocument/2006/relationships" xmlns:a="http://schemas.openxmlformats.org/drawingml/2006/main" r:embed="imgId17012243"/>
          <a:stretch xmlns:a="http://schemas.openxmlformats.org/drawingml/2006/main">
            <a:fillRect/>
          </a:stretch>
        </p:blipFill>
        <p:spPr>
          <a:xfrm xmlns:a="http://schemas.openxmlformats.org/drawingml/2006/main">
            <a:off x="76200" y="0"/>
            <a:ext cx="12020550" cy="6858000"/>
          </a:xfrm>
          <a:prstGeom xmlns:a="http://schemas.openxmlformats.org/drawingml/2006/main" prst="rect">
            <a:avLst/>
          </a:prstGeom>
          <a:noFill xmlns:a="http://schemas.openxmlformats.org/drawingml/2006/main"/>
        </p:spPr>
      </p:pic>
      <p:sp>
        <p:nvSpPr>
          <p:cNvPr id="4" name="Title" hidden="1"/>
          <p:cNvSpPr>
            <a:spLocks xmlns:a="http://schemas.openxmlformats.org/drawingml/2006/main" noGrp="1"/>
          </p:cNvSpPr>
          <p:nvPr>
            <p:ph type="title"/>
          </p:nvPr>
        </p:nvSpPr>
        <p:spPr/>
        <p:txBody>
          <a:bodyPr xmlns:a="http://schemas.openxmlformats.org/drawingml/2006/main"/>
          <a:lstStyle xmlns:a="http://schemas.openxmlformats.org/drawingml/2006/main"/>
          <a:p xmlns:a="http://schemas.openxmlformats.org/drawingml/2006/main">
            <a:r>
              <a:t>Quality and Risk (Control Chart)</a:t>
            </a:r>
          </a:p>
        </p:txBody>
      </p:sp>
    </p:spTree>
    <p:clrMapOvr>
      <a:masterClrMapping xmlns:a="http://schemas.openxmlformats.org/drawingml/2006/main"/>
    </p:clrMapOvr>
  </p:cSld>
</p:sld>
</file>

<file path=ppt/theme/theme1.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5</TotalTime>
  <Words>27</Words>
  <Application>Microsoft Office PowerPoint</Application>
  <PresentationFormat>Widescreen</PresentationFormat>
  <Paragraphs>6</Paragraphs>
  <Slides>1</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vt:i4>
      </vt:variant>
    </vt:vector>
  </HeadingPairs>
  <TitlesOfParts>
    <vt:vector size="8" baseType="lpstr">
      <vt:lpstr>Arial</vt:lpstr>
      <vt:lpstr>Calibri</vt:lpstr>
      <vt:lpstr>Calibri Light</vt:lpstr>
      <vt:lpstr>Segoe UI</vt:lpstr>
      <vt:lpstr>Segoe UI Light</vt:lpstr>
      <vt:lpstr>Segoe UI Semibold</vt:lpstr>
      <vt:lpstr>Custom Design</vt:lpstr>
      <vt:lpstr>#Name of Power BI report#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Power BI</dc:creator>
  <cp:lastModifiedBy>Brian Butler</cp:lastModifiedBy>
  <cp:revision>4</cp:revision>
  <dcterms:created xsi:type="dcterms:W3CDTF">2016-09-04T11:54:55Z</dcterms:created>
  <dcterms:modified xsi:type="dcterms:W3CDTF">2020-11-25T15:29:01Z</dcterms:modified>
</cp:coreProperties>
</file>